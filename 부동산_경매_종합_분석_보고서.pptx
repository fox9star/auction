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ero_auction_bann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097280"/>
            <a:ext cx="5303520" cy="47548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217920" y="1097280"/>
            <a:ext cx="5303520" cy="4754880"/>
          </a:xfrm>
          <a:prstGeom prst="rect">
            <a:avLst/>
          </a:prstGeom>
          <a:noFill/>
          <a:ln w="25400">
            <a:solidFill>
              <a:srgbClr val="319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53035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19795"/>
                </a:solidFill>
              </a:defRPr>
            </a:pPr>
            <a:r>
              <a:t>REAL ESTATE AUCTION</a:t>
            </a:r>
          </a:p>
          <a:p>
            <a:pPr>
              <a:spcBef>
                <a:spcPts val="800"/>
              </a:spcBef>
              <a:defRPr sz="3200" b="1">
                <a:solidFill>
                  <a:srgbClr val="FFFFFF"/>
                </a:solidFill>
              </a:defRPr>
            </a:pPr>
            <a:r>
              <a:t>대한민국 법원</a:t>
            </a:r>
            <a:br/>
            <a:r>
              <a:t>부동산 경매 종합 분석</a:t>
            </a:r>
          </a:p>
          <a:p>
            <a:pPr>
              <a:spcBef>
                <a:spcPts val="1400"/>
              </a:spcBef>
              <a:defRPr sz="1300">
                <a:solidFill>
                  <a:srgbClr val="CBD5E1"/>
                </a:solidFill>
              </a:defRPr>
            </a:pPr>
            <a:r>
              <a:t>실시간 전국 데이터 분석·소멸주의 가이드 및 대전광역시 TOP 50 가치평가 모델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663440"/>
            <a:ext cx="5120640" cy="1188720"/>
          </a:xfrm>
          <a:prstGeom prst="roundRect">
            <a:avLst/>
          </a:prstGeom>
          <a:solidFill>
            <a:srgbClr val="1E406E"/>
          </a:solidFill>
          <a:ln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4754880"/>
            <a:ext cx="48463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E2E8F0"/>
                </a:solidFill>
              </a:defRPr>
            </a:pPr>
            <a:r>
              <a:t>• 데이터 출처: 대한민국 법원경매정보 (courtauction.go.kr)</a:t>
            </a:r>
            <a:br/>
            <a:r>
              <a:t>• 수집 규모: 전국 1,287건 / 대전 522건 전수 데이터 분석</a:t>
            </a:r>
            <a:br/>
            <a:r>
              <a:t>• 산출물: 종합 분석 보고서 및 엑셀 데이터시트 2종 탑재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19795"/>
                </a:solidFill>
              </a:defRPr>
            </a:pPr>
            <a:r>
              <a:t>TABLE OF 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A365D"/>
                </a:solidFill>
              </a:defRPr>
            </a:pPr>
            <a:r>
              <a:t>보고서 핵심 구성 및 목차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5780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822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2B6CB0"/>
                </a:solidFill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1828800"/>
            <a:ext cx="4023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A365D"/>
                </a:solidFill>
              </a:defRPr>
            </a:pPr>
            <a:r>
              <a:t>부산동경매 정의 및 법원 체계</a:t>
            </a:r>
          </a:p>
          <a:p>
            <a:pPr>
              <a:spcBef>
                <a:spcPts val="400"/>
              </a:spcBef>
              <a:defRPr sz="1000">
                <a:solidFill>
                  <a:srgbClr val="718096"/>
                </a:solidFill>
              </a:defRPr>
            </a:pPr>
            <a:r>
              <a:t>부산지방법원 동부지원 관할 구역(해운대·수영·남구·기장) 및 입찰법정 특징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645920"/>
            <a:ext cx="525780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828800"/>
            <a:ext cx="822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2B6CB0"/>
                </a:solidFill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78040" y="1828800"/>
            <a:ext cx="4023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A365D"/>
                </a:solidFill>
              </a:defRPr>
            </a:pPr>
            <a:r>
              <a:t>전국 60개 법원 입찰법정 및 준비물</a:t>
            </a:r>
          </a:p>
          <a:p>
            <a:pPr>
              <a:spcBef>
                <a:spcPts val="400"/>
              </a:spcBef>
              <a:defRPr sz="1000">
                <a:solidFill>
                  <a:srgbClr val="718096"/>
                </a:solidFill>
              </a:defRPr>
            </a:pPr>
            <a:r>
              <a:t>전국 18개 본원 + 42개 지원 현장 응찰 체계 및 필수 준비 서류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154680"/>
            <a:ext cx="525780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337560"/>
            <a:ext cx="822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2B6CB0"/>
                </a:solidFill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3337560"/>
            <a:ext cx="4023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A365D"/>
                </a:solidFill>
              </a:defRPr>
            </a:pPr>
            <a:r>
              <a:t>경매 물건 선별 5대 핵심 지표</a:t>
            </a:r>
          </a:p>
          <a:p>
            <a:pPr>
              <a:spcBef>
                <a:spcPts val="400"/>
              </a:spcBef>
              <a:defRPr sz="1000">
                <a:solidFill>
                  <a:srgbClr val="718096"/>
                </a:solidFill>
              </a:defRPr>
            </a:pPr>
            <a:r>
              <a:t>가격 괴리·안전마진·소멸주의·환금성·명도 관리비 5단계 실전 공식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154680"/>
            <a:ext cx="525780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3337560"/>
            <a:ext cx="822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2B6CB0"/>
                </a:solidFill>
              </a:defRPr>
            </a:pPr>
            <a: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78040" y="3337560"/>
            <a:ext cx="4023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A365D"/>
                </a:solidFill>
              </a:defRPr>
            </a:pPr>
            <a:r>
              <a:t>소멸주의(消滅主義) 권리분석 인포그래픽</a:t>
            </a:r>
          </a:p>
          <a:p>
            <a:pPr>
              <a:spcBef>
                <a:spcPts val="400"/>
              </a:spcBef>
              <a:defRPr sz="1000">
                <a:solidFill>
                  <a:srgbClr val="718096"/>
                </a:solidFill>
              </a:defRPr>
            </a:pPr>
            <a:r>
              <a:t>말소기준권리 5총사, 인수주의와의 비교 및 구매자 3대 제도적 이점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663440"/>
            <a:ext cx="525780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846320"/>
            <a:ext cx="822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2B6CB0"/>
                </a:solidFill>
              </a:defRPr>
            </a:pPr>
            <a: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37360" y="4846320"/>
            <a:ext cx="4023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A365D"/>
                </a:solidFill>
              </a:defRPr>
            </a:pPr>
            <a:r>
              <a:t>전국 권역별 경매 데이터 통계 &amp; 추천</a:t>
            </a:r>
          </a:p>
          <a:p>
            <a:pPr>
              <a:spcBef>
                <a:spcPts val="400"/>
              </a:spcBef>
              <a:defRPr sz="1000">
                <a:solidFill>
                  <a:srgbClr val="718096"/>
                </a:solidFill>
              </a:defRPr>
            </a:pPr>
            <a:r>
              <a:t>전국 1,287건 점유율/할인율 차트 분석 및 권역별 가성비 추천 매물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4663440"/>
            <a:ext cx="525780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5080" y="4846320"/>
            <a:ext cx="822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2B6CB0"/>
                </a:solidFill>
              </a:defRPr>
            </a:pPr>
            <a:r>
              <a:t>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78040" y="4846320"/>
            <a:ext cx="4023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A365D"/>
                </a:solidFill>
              </a:defRPr>
            </a:pPr>
            <a:r>
              <a:t>대전광역시 경매 분석 &amp; TOP 50</a:t>
            </a:r>
          </a:p>
          <a:p>
            <a:pPr>
              <a:spcBef>
                <a:spcPts val="400"/>
              </a:spcBef>
              <a:defRPr sz="1000">
                <a:solidFill>
                  <a:srgbClr val="718096"/>
                </a:solidFill>
              </a:defRPr>
            </a:pPr>
            <a:r>
              <a:t>대전 522건 전수 수집, 자치구별 시각화 및 100점 만점 베스트 매물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19795"/>
                </a:solidFill>
              </a:defRPr>
            </a:pPr>
            <a:r>
              <a:t>SECTION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A365D"/>
                </a:solidFill>
              </a:defRPr>
            </a:pPr>
            <a:r>
              <a:t>부산동경매(부산지방법원 동부지원)의 핵심 특징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A365D"/>
                </a:solidFill>
              </a:defRPr>
            </a:pPr>
            <a:r>
              <a:t>🏛 부산지방법원 동부지원 기본 정보</a:t>
            </a:r>
          </a:p>
          <a:p>
            <a:pPr>
              <a:spcBef>
                <a:spcPts val="1000"/>
              </a:spcBef>
              <a:defRPr sz="1150">
                <a:solidFill>
                  <a:srgbClr val="2D3748"/>
                </a:solidFill>
              </a:defRPr>
            </a:pPr>
            <a:r>
              <a:t>• 약칭: 부산동 / 부산동부 경매</a:t>
            </a:r>
            <a:br/>
            <a:r>
              <a:t>• 소재지: 부산광역시 해운대구 재반로112번길 20 (재송동)</a:t>
            </a:r>
            <a:br/>
            <a:r>
              <a:t>• 관할 구역 (4개 시·구·군):</a:t>
            </a:r>
            <a:br/>
            <a:r>
              <a:t>   - 해운대구 (센텀시티, 마린시티, 우동, 중동, 좌동)</a:t>
            </a:r>
            <a:br/>
            <a:r>
              <a:t>   - 수영구 (남천동, 광안동, 민락동, 망미동)</a:t>
            </a:r>
            <a:br/>
            <a:r>
              <a:t>   - 남구 (대연동, 용호동, 문현동 등 재개발 구역)</a:t>
            </a:r>
            <a:br/>
            <a:r>
              <a:t>   - 기장군 (정관·일광신도시, 기장읍, 장안읍, 철마면)</a:t>
            </a:r>
            <a:br/>
            <a:r>
              <a:t>• 입찰 시간:</a:t>
            </a:r>
            <a:br/>
            <a:r>
              <a:t>   - 입찰서 접수: 오전 10:00 ~ 오전 11:20</a:t>
            </a:r>
            <a:br/>
            <a:r>
              <a:t>   - 개찰 시작: 오전 11:30 순차 진행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82880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A365D"/>
                </a:solidFill>
              </a:defRPr>
            </a:pPr>
            <a:r>
              <a:t>📈 시장 특징 및 관할 주의사항</a:t>
            </a:r>
          </a:p>
          <a:p>
            <a:pPr>
              <a:spcBef>
                <a:spcPts val="1000"/>
              </a:spcBef>
              <a:defRPr sz="1150">
                <a:solidFill>
                  <a:srgbClr val="2D3748"/>
                </a:solidFill>
              </a:defRPr>
            </a:pPr>
            <a:r>
              <a:t>• 부산 최고의 주거 선호지 밀집:</a:t>
            </a:r>
            <a:br/>
            <a:r>
              <a:t>   - 해운대·수영·남구는 부산 아파트 경매의 최대 격전지</a:t>
            </a:r>
            <a:br/>
            <a:r>
              <a:t>   - 낙찰가율 및 입찰 경쟁률이 부산 본원 대비 높음</a:t>
            </a:r>
            <a:br/>
            <a:br/>
            <a:r>
              <a:t>• 기장군 도농복합·개발 호재지:</a:t>
            </a:r>
            <a:br/>
            <a:r>
              <a:t>   - 오시리아 관광단지 배후 상가 및 택지지구 아파트</a:t>
            </a:r>
            <a:br/>
            <a:r>
              <a:t>   - 토지·임야·공장 등 투자용 물건 다양</a:t>
            </a:r>
            <a:br/>
            <a:br/>
            <a:r>
              <a:t>• ⚠️ 관할 주의: '부산 동구' 지역 물건</a:t>
            </a:r>
            <a:br/>
            <a:r>
              <a:t>   - 초량동, 범일동, 수정동, 좌천동 등 '부산 동구' 물건은</a:t>
            </a:r>
            <a:br/>
            <a:r>
              <a:t>     동부지원이 아니라 '부산지방법원 본원'(연제구 거제동) 관할!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19795"/>
                </a:solidFill>
              </a:defRPr>
            </a:pPr>
            <a:r>
              <a:t>SECTION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A365D"/>
                </a:solidFill>
              </a:defRPr>
            </a:pPr>
            <a:r>
              <a:t>전국 60개 법원 경매 입찰법정 및 응찰 절차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0728655" cy="731520"/>
          </a:xfrm>
          <a:prstGeom prst="roundRect">
            <a:avLst/>
          </a:prstGeom>
          <a:solidFill>
            <a:srgbClr val="EBF8FF"/>
          </a:solidFill>
          <a:ln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91640"/>
            <a:ext cx="10332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A365D"/>
                </a:solidFill>
              </a:defRPr>
            </a:pPr>
            <a:r>
              <a:t>📌 현장 입찰 원칙: 대한민국 법원경매는 온라인 입찰이 불가하며, 관할 법원 입찰법정에 직접 출석해야 합니다. (총 60개소)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560320"/>
            <a:ext cx="2560320" cy="3749039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743200"/>
            <a:ext cx="22860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B6CB0"/>
                </a:solidFill>
              </a:defRPr>
            </a:pPr>
            <a:r>
              <a:t>수도권 (16개소)</a:t>
            </a:r>
          </a:p>
          <a:p>
            <a:pPr>
              <a:spcBef>
                <a:spcPts val="800"/>
              </a:spcBef>
              <a:defRPr sz="1000">
                <a:solidFill>
                  <a:srgbClr val="2D3748"/>
                </a:solidFill>
              </a:defRPr>
            </a:pPr>
            <a:r>
              <a:t>• 서울 5개 본원 (중앙, 동부, 서부, 남부, 북부)</a:t>
            </a:r>
            <a:br/>
            <a:r>
              <a:t>• 인천 본원, 부천지원</a:t>
            </a:r>
            <a:br/>
            <a:r>
              <a:t>• 의정부 본원, 고양지원, 남양주지원</a:t>
            </a:r>
            <a:br/>
            <a:r>
              <a:t>• 수원 본원, 성남, 여주, 평택, 안산, 안양지원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56432" y="2560320"/>
            <a:ext cx="2560320" cy="3749039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93592" y="2743200"/>
            <a:ext cx="22860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B6CB0"/>
                </a:solidFill>
              </a:defRPr>
            </a:pPr>
            <a:r>
              <a:t>영남권 (19개소)</a:t>
            </a:r>
          </a:p>
          <a:p>
            <a:pPr>
              <a:spcBef>
                <a:spcPts val="800"/>
              </a:spcBef>
              <a:defRPr sz="1000">
                <a:solidFill>
                  <a:srgbClr val="2D3748"/>
                </a:solidFill>
              </a:defRPr>
            </a:pPr>
            <a:r>
              <a:t>• 부산 본원, 부산동부지원, 부산서부지원</a:t>
            </a:r>
            <a:br/>
            <a:r>
              <a:t>• 울산 본원</a:t>
            </a:r>
            <a:br/>
            <a:r>
              <a:t>• 창원 본원, 마산, 진주, 통영, 밀양, 거창지원</a:t>
            </a:r>
            <a:br/>
            <a:r>
              <a:t>• 대구 본원, 대구서부, 안동, 경주, 포항, 김천, 상주, 의성, 영덕지원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81344" y="2560320"/>
            <a:ext cx="2560320" cy="3749039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18504" y="2743200"/>
            <a:ext cx="22860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B6CB0"/>
                </a:solidFill>
              </a:defRPr>
            </a:pPr>
            <a:r>
              <a:t>충청·강원권 (15개소)</a:t>
            </a:r>
          </a:p>
          <a:p>
            <a:pPr>
              <a:spcBef>
                <a:spcPts val="800"/>
              </a:spcBef>
              <a:defRPr sz="1000">
                <a:solidFill>
                  <a:srgbClr val="2D3748"/>
                </a:solidFill>
              </a:defRPr>
            </a:pPr>
            <a:r>
              <a:t>• 대전 본원, 홍성, 논산, 천안, 공주, 서산지원</a:t>
            </a:r>
            <a:br/>
            <a:r>
              <a:t>• 청주 본원, 충주, 제천, 영동지원</a:t>
            </a:r>
            <a:br/>
            <a:r>
              <a:t>• 춘천 본원, 강릉, 원주, 속초, 영월지원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06256" y="2560320"/>
            <a:ext cx="2560320" cy="3749039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43416" y="2743200"/>
            <a:ext cx="22860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B6CB0"/>
                </a:solidFill>
              </a:defRPr>
            </a:pPr>
            <a:r>
              <a:t>호남·제주권 (10개소)</a:t>
            </a:r>
          </a:p>
          <a:p>
            <a:pPr>
              <a:spcBef>
                <a:spcPts val="800"/>
              </a:spcBef>
              <a:defRPr sz="1000">
                <a:solidFill>
                  <a:srgbClr val="2D3748"/>
                </a:solidFill>
              </a:defRPr>
            </a:pPr>
            <a:r>
              <a:t>• 광주 본원, 목포, 장흥, 순천, 해남지원</a:t>
            </a:r>
            <a:br/>
            <a:r>
              <a:t>• 전주 본원, 군산, 정읍, 남원지원</a:t>
            </a:r>
            <a:br/>
            <a:r>
              <a:t>• 제주지방법원 본원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19795"/>
                </a:solidFill>
              </a:defRPr>
            </a:pPr>
            <a:r>
              <a:t>SECTION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A365D"/>
                </a:solidFill>
              </a:defRPr>
            </a:pPr>
            <a:r>
              <a:t>실전 경매 물건 선별 5대 지표 &amp; 체크리스트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205740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1828800"/>
            <a:ext cx="1691640" cy="411480"/>
          </a:xfrm>
          <a:prstGeom prst="round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1단계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77440"/>
            <a:ext cx="1783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A365D"/>
                </a:solidFill>
              </a:defRPr>
            </a:pPr>
            <a:r>
              <a:t>가격 및 수익성</a:t>
            </a:r>
          </a:p>
          <a:p>
            <a:pPr>
              <a:spcBef>
                <a:spcPts val="1000"/>
              </a:spcBef>
              <a:defRPr sz="1000">
                <a:solidFill>
                  <a:srgbClr val="2D3748"/>
                </a:solidFill>
              </a:defRPr>
            </a:pPr>
            <a:r>
              <a:t>감정평가액 맹신 금지</a:t>
            </a:r>
            <a:br/>
            <a:r>
              <a:t>현재 급매가 대비 안전마진 확인</a:t>
            </a:r>
            <a:br/>
            <a:r>
              <a:t>유찰 저감률(20~30%) 분석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07791" y="1645920"/>
            <a:ext cx="205740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090671" y="1828800"/>
            <a:ext cx="1691640" cy="411480"/>
          </a:xfrm>
          <a:prstGeom prst="round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2단계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44951" y="2377440"/>
            <a:ext cx="1783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A365D"/>
                </a:solidFill>
              </a:defRPr>
            </a:pPr>
            <a:r>
              <a:t>권리분석 안전성</a:t>
            </a:r>
          </a:p>
          <a:p>
            <a:pPr>
              <a:spcBef>
                <a:spcPts val="1000"/>
              </a:spcBef>
              <a:defRPr sz="1000">
                <a:solidFill>
                  <a:srgbClr val="2D3748"/>
                </a:solidFill>
              </a:defRPr>
            </a:pPr>
            <a:r>
              <a:t>말소기준권리 이후 소멸 여부</a:t>
            </a:r>
            <a:br/>
            <a:r>
              <a:t>선순위 대항력 임차인 인수액 0원</a:t>
            </a:r>
            <a:br/>
            <a:r>
              <a:t>특수권리(유치권/지분) 필터링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84064" y="1645920"/>
            <a:ext cx="205740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266944" y="1828800"/>
            <a:ext cx="1691640" cy="411480"/>
          </a:xfrm>
          <a:prstGeom prst="round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3단계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21224" y="2377440"/>
            <a:ext cx="1783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A365D"/>
                </a:solidFill>
              </a:defRPr>
            </a:pPr>
            <a:r>
              <a:t>시장 경쟁도·환금성</a:t>
            </a:r>
          </a:p>
          <a:p>
            <a:pPr>
              <a:spcBef>
                <a:spcPts val="1000"/>
              </a:spcBef>
              <a:defRPr sz="1000">
                <a:solidFill>
                  <a:srgbClr val="2D3748"/>
                </a:solidFill>
              </a:defRPr>
            </a:pPr>
            <a:r>
              <a:t>최근 3~6개월 매매/전세 실거래량</a:t>
            </a:r>
            <a:br/>
            <a:r>
              <a:t>평균 입찰 경쟁자 수 확인</a:t>
            </a:r>
            <a:br/>
            <a:r>
              <a:t>낙찰 후 빠른 엑시트 가능성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60336" y="1645920"/>
            <a:ext cx="205740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443216" y="1828800"/>
            <a:ext cx="1691640" cy="411480"/>
          </a:xfrm>
          <a:prstGeom prst="round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4단계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97496" y="2377440"/>
            <a:ext cx="1783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A365D"/>
                </a:solidFill>
              </a:defRPr>
            </a:pPr>
            <a:r>
              <a:t>명도 및 숨은 비용</a:t>
            </a:r>
          </a:p>
          <a:p>
            <a:pPr>
              <a:spcBef>
                <a:spcPts val="1000"/>
              </a:spcBef>
              <a:defRPr sz="1000">
                <a:solidFill>
                  <a:srgbClr val="2D3748"/>
                </a:solidFill>
              </a:defRPr>
            </a:pPr>
            <a:r>
              <a:t>점유자 성향 및 전액 배당 여부</a:t>
            </a:r>
            <a:br/>
            <a:r>
              <a:t>인도명령 및 강제집행 비용 고려</a:t>
            </a:r>
            <a:br/>
            <a:r>
              <a:t>공용부분 미납 관리비 사전 확인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436608" y="1645920"/>
            <a:ext cx="205740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619488" y="1828800"/>
            <a:ext cx="1691640" cy="411480"/>
          </a:xfrm>
          <a:prstGeom prst="round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5단계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73768" y="2377440"/>
            <a:ext cx="1783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A365D"/>
                </a:solidFill>
              </a:defRPr>
            </a:pPr>
            <a:r>
              <a:t>최종 입찰가 결정</a:t>
            </a:r>
          </a:p>
          <a:p>
            <a:pPr>
              <a:spcBef>
                <a:spcPts val="1000"/>
              </a:spcBef>
              <a:defRPr sz="1000">
                <a:solidFill>
                  <a:srgbClr val="2D3748"/>
                </a:solidFill>
              </a:defRPr>
            </a:pPr>
            <a:r>
              <a:t>급매 시세 - 총 취득원가</a:t>
            </a:r>
            <a:br/>
            <a:r>
              <a:t>(취득세+명도비+수리비+대출이자)</a:t>
            </a:r>
            <a:br/>
            <a:r>
              <a:t>= 나의 목표 입찰가 도출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19795"/>
                </a:solidFill>
              </a:defRPr>
            </a:pPr>
            <a:r>
              <a:t>SECTION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A365D"/>
                </a:solidFill>
              </a:defRPr>
            </a:pPr>
            <a:r>
              <a:t>소멸주의(消滅主義) 권리 소멸 메커니즘 인포그래픽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nfographic_extin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10728655" cy="38404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5623560"/>
            <a:ext cx="10728655" cy="777240"/>
          </a:xfrm>
          <a:prstGeom prst="roundRect">
            <a:avLst/>
          </a:prstGeom>
          <a:solidFill>
            <a:srgbClr val="F0FDF4"/>
          </a:solidFill>
          <a:ln>
            <a:solidFill>
              <a:srgbClr val="2F85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669280"/>
            <a:ext cx="103327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F855A"/>
                </a:solidFill>
              </a:defRPr>
            </a:pPr>
            <a:r>
              <a:t>💡 핵심 원리: 낙찰자가 잔금을 완납하면 말소기준권리(근저당·가압류 등)를 포함한 후순위 채권은 법원 촉탁으로 100% 소멸(말소)됩니다. 단, 말소기준보다 빠른 '대항력 있는 선순위 임차인의 미배당 보증금'과 '유치권'은 낙찰자가 인수하므로 사전 권리분석이 필수입니다.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19795"/>
                </a:solidFill>
              </a:defRPr>
            </a:pPr>
            <a:r>
              <a:t>SECTION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A365D"/>
                </a:solidFill>
              </a:defRPr>
            </a:pPr>
            <a:r>
              <a:t>전국 법원경매 물건 권역별 점유율 및 할인율 분석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hart_nationw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10728655" cy="38404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5623560"/>
            <a:ext cx="10728655" cy="777240"/>
          </a:xfrm>
          <a:prstGeom prst="roundRect">
            <a:avLst/>
          </a:prstGeom>
          <a:solidFill>
            <a:srgbClr val="EBF8FF"/>
          </a:solidFill>
          <a:ln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669280"/>
            <a:ext cx="103327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A365D"/>
                </a:solidFill>
              </a:defRPr>
            </a:pPr>
            <a:r>
              <a:t>📊 데이터 분석 요약: 전국 1,287건 중 수도권(484건, 37.6%)과 영남권(337건, 26.2%)이 전체의 64%를 차지합니다. 3회 유찰 시 모든 권역에서 최대 65.7%의 파격적 할인율(최저가율 34.3%)이 형성되어 감정가 대비 압도적인 가격 메리트를 제공합니다.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19795"/>
                </a:solidFill>
              </a:defRPr>
            </a:pPr>
            <a:r>
              <a:t>SECTION 05 - BEST PICKS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A365D"/>
                </a:solidFill>
              </a:defRPr>
            </a:pPr>
            <a:r>
              <a:t>전국 권역별 최고 가성비 추천 물건 현황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645920"/>
          <a:ext cx="1069848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1280160"/>
                <a:gridCol w="1463040"/>
                <a:gridCol w="3200400"/>
                <a:gridCol w="1188720"/>
                <a:gridCol w="1188720"/>
                <a:gridCol w="1097280"/>
              </a:tblGrid>
              <a:tr h="653142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권역</a:t>
                      </a:r>
                    </a:p>
                  </a:txBody>
                  <a:tcPr>
                    <a:solidFill>
                      <a:srgbClr val="2B6CB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관할법원</a:t>
                      </a:r>
                    </a:p>
                  </a:txBody>
                  <a:tcPr>
                    <a:solidFill>
                      <a:srgbClr val="2B6CB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사건번호</a:t>
                      </a:r>
                    </a:p>
                  </a:txBody>
                  <a:tcPr>
                    <a:solidFill>
                      <a:srgbClr val="2B6CB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소재지 및 아파트명</a:t>
                      </a:r>
                    </a:p>
                  </a:txBody>
                  <a:tcPr>
                    <a:solidFill>
                      <a:srgbClr val="2B6CB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감정평가액</a:t>
                      </a:r>
                    </a:p>
                  </a:txBody>
                  <a:tcPr>
                    <a:solidFill>
                      <a:srgbClr val="2B6CB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최저매각가격</a:t>
                      </a:r>
                    </a:p>
                  </a:txBody>
                  <a:tcPr>
                    <a:solidFill>
                      <a:srgbClr val="2B6CB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할인율</a:t>
                      </a:r>
                    </a:p>
                  </a:txBody>
                  <a:tcPr>
                    <a:solidFill>
                      <a:srgbClr val="2B6CB0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3748"/>
                          </a:solidFill>
                        </a:defRPr>
                      </a:pPr>
                      <a:r>
                        <a:t>수도권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3748"/>
                          </a:solidFill>
                        </a:defRPr>
                      </a:pPr>
                      <a:r>
                        <a:t>부천지원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3748"/>
                          </a:solidFill>
                        </a:defRPr>
                      </a:pPr>
                      <a:r>
                        <a:t>2024타경5702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3748"/>
                          </a:solidFill>
                        </a:defRPr>
                      </a:pPr>
                      <a:r>
                        <a:t>경기 부천시 소사본동 삼신아파트 1동 3층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2D3748"/>
                          </a:solidFill>
                        </a:defRPr>
                      </a:pPr>
                      <a:r>
                        <a:t>2억 6,700만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2D3748"/>
                          </a:solidFill>
                        </a:defRPr>
                      </a:pPr>
                      <a:r>
                        <a:t>9,158만 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3748"/>
                          </a:solidFill>
                        </a:defRPr>
                      </a:pPr>
                      <a:r>
                        <a:t>-65.7% (3회)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3748"/>
                          </a:solidFill>
                        </a:defRPr>
                      </a:pPr>
                      <a:r>
                        <a:t>영남(부울경)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3748"/>
                          </a:solidFill>
                        </a:defRPr>
                      </a:pPr>
                      <a:r>
                        <a:t>부산동부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3748"/>
                          </a:solidFill>
                        </a:defRPr>
                      </a:pPr>
                      <a:r>
                        <a:t>2025타경462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3748"/>
                          </a:solidFill>
                        </a:defRPr>
                      </a:pPr>
                      <a:r>
                        <a:t>부산 수영구 광안동 성우이린타워 9층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2D3748"/>
                          </a:solidFill>
                        </a:defRPr>
                      </a:pPr>
                      <a:r>
                        <a:t>2억 2,800만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2D3748"/>
                          </a:solidFill>
                        </a:defRPr>
                      </a:pPr>
                      <a:r>
                        <a:t>7,820만 원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3748"/>
                          </a:solidFill>
                        </a:defRPr>
                      </a:pPr>
                      <a:r>
                        <a:t>-65.7% (3회)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3748"/>
                          </a:solidFill>
                        </a:defRPr>
                      </a:pPr>
                      <a:r>
                        <a:t>영남(부울경)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3748"/>
                          </a:solidFill>
                        </a:defRPr>
                      </a:pPr>
                      <a:r>
                        <a:t>부산동부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3748"/>
                          </a:solidFill>
                        </a:defRPr>
                      </a:pPr>
                      <a:r>
                        <a:t>2025타경634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3748"/>
                          </a:solidFill>
                        </a:defRPr>
                      </a:pPr>
                      <a:r>
                        <a:t>부산 수영구 망미동 망미한신 103동 2층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2D3748"/>
                          </a:solidFill>
                        </a:defRPr>
                      </a:pPr>
                      <a:r>
                        <a:t>5억 7,500만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2D3748"/>
                          </a:solidFill>
                        </a:defRPr>
                      </a:pPr>
                      <a:r>
                        <a:t>1억 9,722만 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3748"/>
                          </a:solidFill>
                        </a:defRPr>
                      </a:pPr>
                      <a:r>
                        <a:t>-65.7% (3회)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3748"/>
                          </a:solidFill>
                        </a:defRPr>
                      </a:pPr>
                      <a:r>
                        <a:t>영남(대경권)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3748"/>
                          </a:solidFill>
                        </a:defRPr>
                      </a:pPr>
                      <a:r>
                        <a:t>대구지법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3748"/>
                          </a:solidFill>
                        </a:defRPr>
                      </a:pPr>
                      <a:r>
                        <a:t>2025타경10173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3748"/>
                          </a:solidFill>
                        </a:defRPr>
                      </a:pPr>
                      <a:r>
                        <a:t>대구 동구 신서동 명가클래식 11층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2D3748"/>
                          </a:solidFill>
                        </a:defRPr>
                      </a:pPr>
                      <a:r>
                        <a:t>1억 9,100만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2D3748"/>
                          </a:solidFill>
                        </a:defRPr>
                      </a:pPr>
                      <a:r>
                        <a:t>6,551만 원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3748"/>
                          </a:solidFill>
                        </a:defRPr>
                      </a:pPr>
                      <a:r>
                        <a:t>-65.7% (3회)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3748"/>
                          </a:solidFill>
                        </a:defRPr>
                      </a:pPr>
                      <a:r>
                        <a:t>충청권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3748"/>
                          </a:solidFill>
                        </a:defRPr>
                      </a:pPr>
                      <a:r>
                        <a:t>대전지법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3748"/>
                          </a:solidFill>
                        </a:defRPr>
                      </a:pPr>
                      <a:r>
                        <a:t>2025타경503447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3748"/>
                          </a:solidFill>
                        </a:defRPr>
                      </a:pPr>
                      <a:r>
                        <a:t>대전 대덕구 대화동 세원풍남 5동 5층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2D3748"/>
                          </a:solidFill>
                        </a:defRPr>
                      </a:pPr>
                      <a:r>
                        <a:t>1억 6,600만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2D3748"/>
                          </a:solidFill>
                        </a:defRPr>
                      </a:pPr>
                      <a:r>
                        <a:t>5,693만 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3748"/>
                          </a:solidFill>
                        </a:defRPr>
                      </a:pPr>
                      <a:r>
                        <a:t>-65.7% (3회)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3148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3748"/>
                          </a:solidFill>
                        </a:defRPr>
                      </a:pPr>
                      <a:r>
                        <a:t>강원권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3748"/>
                          </a:solidFill>
                        </a:defRPr>
                      </a:pPr>
                      <a:r>
                        <a:t>속초지원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3748"/>
                          </a:solidFill>
                        </a:defRPr>
                      </a:pPr>
                      <a:r>
                        <a:t>2025타경10411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D3748"/>
                          </a:solidFill>
                        </a:defRPr>
                      </a:pPr>
                      <a:r>
                        <a:t>강원 양양군 양양읍 양양서문주공 102동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>
                          <a:solidFill>
                            <a:srgbClr val="2D3748"/>
                          </a:solidFill>
                        </a:defRPr>
                      </a:pPr>
                      <a:r>
                        <a:t>1억 5,000만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2D3748"/>
                          </a:solidFill>
                        </a:defRPr>
                      </a:pPr>
                      <a:r>
                        <a:t>5,145만 원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D3748"/>
                          </a:solidFill>
                        </a:defRPr>
                      </a:pPr>
                      <a:r>
                        <a:t>-65.7% (3회)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19795"/>
                </a:solidFill>
              </a:defRPr>
            </a:pPr>
            <a:r>
              <a:t>SECTION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A365D"/>
                </a:solidFill>
              </a:defRPr>
            </a:pPr>
            <a:r>
              <a:t>대전광역시 TOP 50 자치구별 분포 및 점수 시각화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hart_daejeon_top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10728655" cy="38404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5623560"/>
            <a:ext cx="10728655" cy="777240"/>
          </a:xfrm>
          <a:prstGeom prst="roundRect">
            <a:avLst/>
          </a:prstGeom>
          <a:solidFill>
            <a:srgbClr val="FFF5F5"/>
          </a:solidFill>
          <a:ln>
            <a:solidFill>
              <a:srgbClr val="C53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669280"/>
            <a:ext cx="103327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C53030"/>
                </a:solidFill>
              </a:defRPr>
            </a:pPr>
            <a:r>
              <a:t>🎯 대전 TOP 50 분석: 주거 및 상업 선호도가 가장 높은 '유성구(22건, 44%)'와 '서구(17건, 34%)'가 상위 78%를 독점하고 있습니다. 100점 만점 기준 95점 이상 물건이 대거 포진해 있으며 감정가 대비 최고 83%~98%까지 하락한 초특가 매물이 존재합니다.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19795"/>
                </a:solidFill>
              </a:defRPr>
            </a:pPr>
            <a:r>
              <a:t>SECTION 06 - DAEJEON TOP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A365D"/>
                </a:solidFill>
              </a:defRPr>
            </a:pPr>
            <a:r>
              <a:t>대전광역시 경매 베스트 TOP 10 추천 물건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645920"/>
          <a:ext cx="10728655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914400"/>
                <a:gridCol w="914400"/>
                <a:gridCol w="1463040"/>
                <a:gridCol w="3931920"/>
                <a:gridCol w="1371600"/>
                <a:gridCol w="1401775"/>
              </a:tblGrid>
              <a:tr h="423949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순위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점수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자치구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사건번호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소재지 및 단지명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감정평가액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최저매각가격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</a:tr>
              <a:tr h="423949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2D3748"/>
                          </a:solidFill>
                        </a:defRPr>
                      </a:pPr>
                      <a:r>
                        <a:t>1위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D3748"/>
                          </a:solidFill>
                        </a:defRPr>
                      </a:pPr>
                      <a:r>
                        <a:t>100점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D3748"/>
                          </a:solidFill>
                        </a:defRPr>
                      </a:pPr>
                      <a:r>
                        <a:t>유성구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D3748"/>
                          </a:solidFill>
                        </a:defRPr>
                      </a:pPr>
                      <a:r>
                        <a:t>2025타경503878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D3748"/>
                          </a:solidFill>
                        </a:defRPr>
                      </a:pPr>
                      <a:r>
                        <a:t>송강동 청솔아파트 102동 7층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2D3748"/>
                          </a:solidFill>
                        </a:defRPr>
                      </a:pPr>
                      <a:r>
                        <a:t>1억 5,900만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 b="1">
                          <a:solidFill>
                            <a:srgbClr val="C53030"/>
                          </a:solidFill>
                        </a:defRPr>
                      </a:pPr>
                      <a:r>
                        <a:t>3,817만 (-76%)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3949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2D3748"/>
                          </a:solidFill>
                        </a:defRPr>
                      </a:pPr>
                      <a:r>
                        <a:t>2위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D3748"/>
                          </a:solidFill>
                        </a:defRPr>
                      </a:pPr>
                      <a:r>
                        <a:t>99점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D3748"/>
                          </a:solidFill>
                        </a:defRPr>
                      </a:pPr>
                      <a:r>
                        <a:t>서구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D3748"/>
                          </a:solidFill>
                        </a:defRPr>
                      </a:pPr>
                      <a:r>
                        <a:t>2025타경502021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D3748"/>
                          </a:solidFill>
                        </a:defRPr>
                      </a:pPr>
                      <a:r>
                        <a:t>월평동 에코리움 5층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2D3748"/>
                          </a:solidFill>
                        </a:defRPr>
                      </a:pPr>
                      <a:r>
                        <a:t>1억 8,000만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 b="1">
                          <a:solidFill>
                            <a:srgbClr val="C53030"/>
                          </a:solidFill>
                        </a:defRPr>
                      </a:pPr>
                      <a:r>
                        <a:t>3,025만 (-83%)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23949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2D3748"/>
                          </a:solidFill>
                        </a:defRPr>
                      </a:pPr>
                      <a:r>
                        <a:t>3위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D3748"/>
                          </a:solidFill>
                        </a:defRPr>
                      </a:pPr>
                      <a:r>
                        <a:t>96점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D3748"/>
                          </a:solidFill>
                        </a:defRPr>
                      </a:pPr>
                      <a:r>
                        <a:t>유성구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D3748"/>
                          </a:solidFill>
                        </a:defRPr>
                      </a:pPr>
                      <a:r>
                        <a:t>2025타경503678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D3748"/>
                          </a:solidFill>
                        </a:defRPr>
                      </a:pPr>
                      <a:r>
                        <a:t>봉명동 사이언스타운 6층 (오피스텔)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2D3748"/>
                          </a:solidFill>
                        </a:defRPr>
                      </a:pPr>
                      <a:r>
                        <a:t>2억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 b="1">
                          <a:solidFill>
                            <a:srgbClr val="C53030"/>
                          </a:solidFill>
                        </a:defRPr>
                      </a:pPr>
                      <a:r>
                        <a:t>3,361만 (-83%)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3949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D3748"/>
                          </a:solidFill>
                        </a:defRPr>
                      </a:pPr>
                      <a:r>
                        <a:t>4위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D3748"/>
                          </a:solidFill>
                        </a:defRPr>
                      </a:pPr>
                      <a:r>
                        <a:t>96점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D3748"/>
                          </a:solidFill>
                        </a:defRPr>
                      </a:pPr>
                      <a:r>
                        <a:t>유성구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D3748"/>
                          </a:solidFill>
                        </a:defRPr>
                      </a:pPr>
                      <a:r>
                        <a:t>2024타경109647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D3748"/>
                          </a:solidFill>
                        </a:defRPr>
                      </a:pPr>
                      <a:r>
                        <a:t>봉명동 유성자이 1층 133호 (상가)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2D3748"/>
                          </a:solidFill>
                        </a:defRPr>
                      </a:pPr>
                      <a:r>
                        <a:t>2억 7,600만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 b="1">
                          <a:solidFill>
                            <a:srgbClr val="C53030"/>
                          </a:solidFill>
                        </a:defRPr>
                      </a:pPr>
                      <a:r>
                        <a:t>4,638만 (-83%)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23949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D3748"/>
                          </a:solidFill>
                        </a:defRPr>
                      </a:pPr>
                      <a:r>
                        <a:t>5위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D3748"/>
                          </a:solidFill>
                        </a:defRPr>
                      </a:pPr>
                      <a:r>
                        <a:t>96점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D3748"/>
                          </a:solidFill>
                        </a:defRPr>
                      </a:pPr>
                      <a:r>
                        <a:t>유성구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D3748"/>
                          </a:solidFill>
                        </a:defRPr>
                      </a:pPr>
                      <a:r>
                        <a:t>2024타경8362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D3748"/>
                          </a:solidFill>
                        </a:defRPr>
                      </a:pPr>
                      <a:r>
                        <a:t>덕명동 베네디또빌 1층 102호 (다세대)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2D3748"/>
                          </a:solidFill>
                        </a:defRPr>
                      </a:pPr>
                      <a:r>
                        <a:t>4억 1,300만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 b="1">
                          <a:solidFill>
                            <a:srgbClr val="C53030"/>
                          </a:solidFill>
                        </a:defRPr>
                      </a:pPr>
                      <a:r>
                        <a:t>9,916만 (-76%)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3949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D3748"/>
                          </a:solidFill>
                        </a:defRPr>
                      </a:pPr>
                      <a:r>
                        <a:t>6위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D3748"/>
                          </a:solidFill>
                        </a:defRPr>
                      </a:pPr>
                      <a:r>
                        <a:t>96점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D3748"/>
                          </a:solidFill>
                        </a:defRPr>
                      </a:pPr>
                      <a:r>
                        <a:t>유성구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D3748"/>
                          </a:solidFill>
                        </a:defRPr>
                      </a:pPr>
                      <a:r>
                        <a:t>2024타경8362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D3748"/>
                          </a:solidFill>
                        </a:defRPr>
                      </a:pPr>
                      <a:r>
                        <a:t>덕명동 베네디또빌 1층 101호 (다세대)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2D3748"/>
                          </a:solidFill>
                        </a:defRPr>
                      </a:pPr>
                      <a:r>
                        <a:t>4억 3,400만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 b="1">
                          <a:solidFill>
                            <a:srgbClr val="C53030"/>
                          </a:solidFill>
                        </a:defRPr>
                      </a:pPr>
                      <a:r>
                        <a:t>1억 420만 (-76%)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23949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D3748"/>
                          </a:solidFill>
                        </a:defRPr>
                      </a:pPr>
                      <a:r>
                        <a:t>7위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D3748"/>
                          </a:solidFill>
                        </a:defRPr>
                      </a:pPr>
                      <a:r>
                        <a:t>96점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D3748"/>
                          </a:solidFill>
                        </a:defRPr>
                      </a:pPr>
                      <a:r>
                        <a:t>유성구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D3748"/>
                          </a:solidFill>
                        </a:defRPr>
                      </a:pPr>
                      <a:r>
                        <a:t>2025타경3894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D3748"/>
                          </a:solidFill>
                        </a:defRPr>
                      </a:pPr>
                      <a:r>
                        <a:t>봉명동 다세대 5층 511호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2D3748"/>
                          </a:solidFill>
                        </a:defRPr>
                      </a:pPr>
                      <a:r>
                        <a:t>9,400만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 b="1">
                          <a:solidFill>
                            <a:srgbClr val="C53030"/>
                          </a:solidFill>
                        </a:defRPr>
                      </a:pPr>
                      <a:r>
                        <a:t>3,224만 (-66%)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3949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D3748"/>
                          </a:solidFill>
                        </a:defRPr>
                      </a:pPr>
                      <a:r>
                        <a:t>8위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D3748"/>
                          </a:solidFill>
                        </a:defRPr>
                      </a:pPr>
                      <a:r>
                        <a:t>96점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D3748"/>
                          </a:solidFill>
                        </a:defRPr>
                      </a:pPr>
                      <a:r>
                        <a:t>대덕구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D3748"/>
                          </a:solidFill>
                        </a:defRPr>
                      </a:pPr>
                      <a:r>
                        <a:t>2025타경503447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D3748"/>
                          </a:solidFill>
                        </a:defRPr>
                      </a:pPr>
                      <a:r>
                        <a:t>대화동 세원풍남 5동 5층 (아파트)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2D3748"/>
                          </a:solidFill>
                        </a:defRPr>
                      </a:pPr>
                      <a:r>
                        <a:t>1억 6,600만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 b="1">
                          <a:solidFill>
                            <a:srgbClr val="C53030"/>
                          </a:solidFill>
                        </a:defRPr>
                      </a:pPr>
                      <a:r>
                        <a:t>5,693만 (-66%)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23949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D3748"/>
                          </a:solidFill>
                        </a:defRPr>
                      </a:pPr>
                      <a:r>
                        <a:t>9위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D3748"/>
                          </a:solidFill>
                        </a:defRPr>
                      </a:pPr>
                      <a:r>
                        <a:t>96점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D3748"/>
                          </a:solidFill>
                        </a:defRPr>
                      </a:pPr>
                      <a:r>
                        <a:t>유성구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D3748"/>
                          </a:solidFill>
                        </a:defRPr>
                      </a:pPr>
                      <a:r>
                        <a:t>2026타경45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D3748"/>
                          </a:solidFill>
                        </a:defRPr>
                      </a:pPr>
                      <a:r>
                        <a:t>용산동 세안프라자 3층 (근린상가)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2D3748"/>
                          </a:solidFill>
                        </a:defRPr>
                      </a:pPr>
                      <a:r>
                        <a:t>1억 7,500만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 b="1">
                          <a:solidFill>
                            <a:srgbClr val="C53030"/>
                          </a:solidFill>
                        </a:defRPr>
                      </a:pPr>
                      <a:r>
                        <a:t>6,002만 (-66%)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3950"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D3748"/>
                          </a:solidFill>
                        </a:defRPr>
                      </a:pPr>
                      <a:r>
                        <a:t>10위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D3748"/>
                          </a:solidFill>
                        </a:defRPr>
                      </a:pPr>
                      <a:r>
                        <a:t>96점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D3748"/>
                          </a:solidFill>
                        </a:defRPr>
                      </a:pPr>
                      <a:r>
                        <a:t>유성구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D3748"/>
                          </a:solidFill>
                        </a:defRPr>
                      </a:pPr>
                      <a:r>
                        <a:t>2025타경3906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D3748"/>
                          </a:solidFill>
                        </a:defRPr>
                      </a:pPr>
                      <a:r>
                        <a:t>문지동 효성해링턴 배후 상가 3층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>
                          <a:solidFill>
                            <a:srgbClr val="2D3748"/>
                          </a:solidFill>
                        </a:defRPr>
                      </a:pPr>
                      <a:r>
                        <a:t>2억 3,600만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950" b="1">
                          <a:solidFill>
                            <a:srgbClr val="C53030"/>
                          </a:solidFill>
                        </a:defRPr>
                      </a:pPr>
                      <a:r>
                        <a:t>8,094만 (-66%)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19795"/>
                </a:solidFill>
              </a:defRPr>
            </a:pPr>
            <a:r>
              <a:t>PROJECT OUTPUTS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A365D"/>
                </a:solidFill>
              </a:defRPr>
            </a:pPr>
            <a:r>
              <a:t>프로젝트 산출물 및 실무 활용 가이드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5780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892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B6CB0"/>
                </a:solidFill>
              </a:defRPr>
            </a:pPr>
            <a:r>
              <a:t>📊 데이터 분석 엑셀 파일 (2종)</a:t>
            </a:r>
          </a:p>
          <a:p>
            <a:pPr>
              <a:spcBef>
                <a:spcPts val="800"/>
              </a:spcBef>
              <a:defRPr sz="1050">
                <a:solidFill>
                  <a:srgbClr val="2D3748"/>
                </a:solidFill>
              </a:defRPr>
            </a:pPr>
            <a:r>
              <a:t>• 대전광역시_경매물건_TOP50_추천.xlsx</a:t>
            </a:r>
            <a:br/>
            <a:r>
              <a:t>   - 대전 522건 전수 수집 및 100점 만점 TOP 50 정렬</a:t>
            </a:r>
            <a:br/>
            <a:r>
              <a:t>• 대한민국법원_전국경매물건_정리_및_권역별추천.xlsx</a:t>
            </a:r>
            <a:br/>
            <a:r>
              <a:t>   - 전국 17개 시·도 1,287건 수집 및 권역별 추천 리스트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645920"/>
            <a:ext cx="525780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28800"/>
            <a:ext cx="4892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B6CB0"/>
                </a:solidFill>
              </a:defRPr>
            </a:pPr>
            <a:r>
              <a:t>📄 문서 및 보고서 산출물</a:t>
            </a:r>
          </a:p>
          <a:p>
            <a:pPr>
              <a:spcBef>
                <a:spcPts val="800"/>
              </a:spcBef>
              <a:defRPr sz="1050">
                <a:solidFill>
                  <a:srgbClr val="2D3748"/>
                </a:solidFill>
              </a:defRPr>
            </a:pPr>
            <a:r>
              <a:t>• 부동산_경매_종합_분석_보고서.html</a:t>
            </a:r>
            <a:br/>
            <a:r>
              <a:t>   - 차트·배너 이미지 4종 탑재, 반응형 웹 스타일</a:t>
            </a:r>
            <a:br/>
            <a:r>
              <a:t>• 부동산_경매_종합_분석_보고서.md</a:t>
            </a:r>
            <a:br/>
            <a:r>
              <a:t>   - GitHub 표준 마크다운 보고서</a:t>
            </a:r>
            <a:br/>
            <a:r>
              <a:t>• 부동산_경매_종합_분석_보고서.pptx</a:t>
            </a:r>
            <a:br/>
            <a:r>
              <a:t>   - 16:9 고화질 프리젠테이션 (본 파일)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31920"/>
            <a:ext cx="525780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114800"/>
            <a:ext cx="4892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B6CB0"/>
                </a:solidFill>
              </a:defRPr>
            </a:pPr>
            <a:r>
              <a:t>⚙️ 자동화 데이터 파이프라인 스크립트</a:t>
            </a:r>
          </a:p>
          <a:p>
            <a:pPr>
              <a:spcBef>
                <a:spcPts val="800"/>
              </a:spcBef>
              <a:defRPr sz="1050">
                <a:solidFill>
                  <a:srgbClr val="2D3748"/>
                </a:solidFill>
              </a:defRPr>
            </a:pPr>
            <a:r>
              <a:t>• process_daejeon_top50.py (대전 전수 수집 및 가치평가)</a:t>
            </a:r>
            <a:br/>
            <a:r>
              <a:t>• collect_and_export_auction.py (전국 17개 시도 크롤러)</a:t>
            </a:r>
            <a:br/>
            <a:r>
              <a:t>• generate_charts.py (고해상도 시각화 차트 생성기)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931920"/>
            <a:ext cx="525780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4114800"/>
            <a:ext cx="4892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B6CB0"/>
                </a:solidFill>
              </a:defRPr>
            </a:pPr>
            <a:r>
              <a:t>💡 실전 입찰 최종 체크리스트</a:t>
            </a:r>
          </a:p>
          <a:p>
            <a:pPr>
              <a:spcBef>
                <a:spcPts val="800"/>
              </a:spcBef>
              <a:defRPr sz="1050">
                <a:solidFill>
                  <a:srgbClr val="2D3748"/>
                </a:solidFill>
              </a:defRPr>
            </a:pPr>
            <a:r>
              <a:t>• 매각기일 1주일 전 매각물건명세서 변경 여부 재확인</a:t>
            </a:r>
            <a:br/>
            <a:r>
              <a:t>• 해당 아파트/상가 관리사무소 방문해 공용 관리비 확인</a:t>
            </a:r>
            <a:br/>
            <a:r>
              <a:t>• 네이버 부동산 및 현장 공인중개사를 통한 급매 호가 크로스체크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